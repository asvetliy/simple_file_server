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AC4E8BC-689F-472A-A39E-3430286158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33CD0C9-CA9B-4DD4-814F-A69C01D13616}"/>
              </a:ext>
            </a:extLst>
          </p:cNvPr>
          <p:cNvSpPr>
            <a:spLocks noGrp="1"/>
          </p:cNvSpPr>
          <p:nvPr/>
        </p:nvSpPr>
        <p:spPr>
          <a:xfrm>
            <a:off x="552450" y="585788"/>
            <a:ext cx="3238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2D3A518-1581-4921-9EEE-DA162BD130E9}"/>
              </a:ext>
            </a:extLst>
          </p:cNvPr>
          <p:cNvSpPr>
            <a:spLocks noGrp="1"/>
          </p:cNvSpPr>
          <p:nvPr/>
        </p:nvSpPr>
        <p:spPr>
          <a:xfrm>
            <a:off x="1009650" y="4953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FAB943-BE33-4F37-B5DB-A49136FFF0AB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5905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Simple Drive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2755A-F71F-4FBA-8EA2-7D235CF90C71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6572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A focused Django file-sharing MVP with folders, quotas, expiring links, QR downloads, trash recovery, and HTMX interactions.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B86139-F211-4225-AD08-B97D20030551}"/>
              </a:ext>
            </a:extLst>
          </p:cNvPr>
          <p:cNvSpPr>
            <a:spLocks noGrp="1"/>
          </p:cNvSpPr>
          <p:nvPr/>
        </p:nvSpPr>
        <p:spPr>
          <a:xfrm>
            <a:off x="7620000" y="685800"/>
            <a:ext cx="3429000" cy="4762500"/>
          </a:xfrm>
          <a:prstGeom prst="roundRect">
            <a:avLst>
              <a:gd name="adj" fmla="val 2222"/>
            </a:avLst>
          </a:prstGeom>
          <a:solidFill>
            <a:srgbClr val="162230"/>
          </a:solidFill>
          <a:ln w="9525">
            <a:solidFill>
              <a:srgbClr val="263548"/>
            </a:solidFill>
            <a:prstDash val="solid"/>
          </a:ln>
        </p:spPr>
      </p:sp>
      <p:pic>
        <p:nvPicPr>
          <p:cNvPr id="7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696325" y="1466850"/>
            <a:ext cx="1257300" cy="12573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A1C3CB-EC9B-481D-A897-42CA93FEF88B}"/>
              </a:ext>
            </a:extLst>
          </p:cNvPr>
          <p:cNvSpPr>
            <a:spLocks noGrp="1"/>
          </p:cNvSpPr>
          <p:nvPr/>
        </p:nvSpPr>
        <p:spPr>
          <a:xfrm>
            <a:off x="8058150" y="3067050"/>
            <a:ext cx="2552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Built with Django, DaisyUI, HTMX, and server-rendered partials.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34C445-5092-4E09-B098-F03873064A16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0F16E5-5EE5-4C24-B0A5-37674881B90F}"/>
              </a:ext>
            </a:extLst>
          </p:cNvPr>
          <p:cNvSpPr>
            <a:spLocks noGrp="1"/>
          </p:cNvSpPr>
          <p:nvPr/>
        </p:nvSpPr>
        <p:spPr>
          <a:xfrm>
            <a:off x="666750" y="46101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core product capabilities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E20DE-6DD0-4E2B-A0B8-DDA9EB01B9D8}"/>
              </a:ext>
            </a:extLst>
          </p:cNvPr>
          <p:cNvSpPr>
            <a:spLocks noGrp="1"/>
          </p:cNvSpPr>
          <p:nvPr/>
        </p:nvSpPr>
        <p:spPr>
          <a:xfrm>
            <a:off x="3048000" y="42100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DEF15-D63D-4524-850F-F9CCC9196EF8}"/>
              </a:ext>
            </a:extLst>
          </p:cNvPr>
          <p:cNvSpPr>
            <a:spLocks noGrp="1"/>
          </p:cNvSpPr>
          <p:nvPr/>
        </p:nvSpPr>
        <p:spPr>
          <a:xfrm>
            <a:off x="3048000" y="46101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storage plans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37B088-BB50-438F-9D1D-3CDA88AD9083}"/>
              </a:ext>
            </a:extLst>
          </p:cNvPr>
          <p:cNvSpPr>
            <a:spLocks noGrp="1"/>
          </p:cNvSpPr>
          <p:nvPr/>
        </p:nvSpPr>
        <p:spPr>
          <a:xfrm>
            <a:off x="4953000" y="42100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5891A-B914-45F2-88C4-CDC92942000A}"/>
              </a:ext>
            </a:extLst>
          </p:cNvPr>
          <p:cNvSpPr>
            <a:spLocks noGrp="1"/>
          </p:cNvSpPr>
          <p:nvPr/>
        </p:nvSpPr>
        <p:spPr>
          <a:xfrm>
            <a:off x="4953000" y="46101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file app tests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9C8CAA-8696-4F05-9AED-C2AA1DB95DAD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F51481-9C1A-4315-BEF0-9DE4BA54F2AB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766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327DEA3-B676-46B3-859C-E3B12776B7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2E6369D-7D7E-4B0D-A0CA-D40548DBD02F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0D57AF0-81E1-48A2-8565-A728EECE94E2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03FFD-DE88-4B2A-BF24-FBAFC61D561D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MVP solves the everyday file-management loop, not every enterprise edge case.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068C2D-8366-4D4B-B8B1-89E00FF20459}"/>
              </a:ext>
            </a:extLst>
          </p:cNvPr>
          <p:cNvSpPr>
            <a:spLocks noGrp="1"/>
          </p:cNvSpPr>
          <p:nvPr/>
        </p:nvSpPr>
        <p:spPr>
          <a:xfrm>
            <a:off x="971550" y="325755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95425" y="3467100"/>
            <a:ext cx="381000" cy="381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3B6411-7880-4CC5-8700-EBE4087AFFD2}"/>
              </a:ext>
            </a:extLst>
          </p:cNvPr>
          <p:cNvSpPr>
            <a:spLocks noGrp="1"/>
          </p:cNvSpPr>
          <p:nvPr/>
        </p:nvSpPr>
        <p:spPr>
          <a:xfrm>
            <a:off x="1114425" y="3962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Sign up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3C1058-F177-4540-874C-BA1531D4444C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09975" y="2686050"/>
            <a:ext cx="381000" cy="381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E53A57-C52F-470C-8C81-6EFBF802587C}"/>
              </a:ext>
            </a:extLst>
          </p:cNvPr>
          <p:cNvSpPr>
            <a:spLocks noGrp="1"/>
          </p:cNvSpPr>
          <p:nvPr/>
        </p:nvSpPr>
        <p:spPr>
          <a:xfrm>
            <a:off x="3228975" y="3181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16416F-DDCB-4803-82F3-481E770DF991}"/>
              </a:ext>
            </a:extLst>
          </p:cNvPr>
          <p:cNvSpPr>
            <a:spLocks noGrp="1"/>
          </p:cNvSpPr>
          <p:nvPr/>
        </p:nvSpPr>
        <p:spPr>
          <a:xfrm>
            <a:off x="5314950" y="325755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838825" y="3467100"/>
            <a:ext cx="381000" cy="381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27564C9-CD95-436C-917A-FA8E5B1AB9AF}"/>
              </a:ext>
            </a:extLst>
          </p:cNvPr>
          <p:cNvSpPr>
            <a:spLocks noGrp="1"/>
          </p:cNvSpPr>
          <p:nvPr/>
        </p:nvSpPr>
        <p:spPr>
          <a:xfrm>
            <a:off x="5457825" y="3962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Organize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884857-E032-4AB7-959F-3B0358A1414C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48625" y="2686050"/>
            <a:ext cx="381000" cy="381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1B890D-B0B5-496E-964C-599C455DC249}"/>
              </a:ext>
            </a:extLst>
          </p:cNvPr>
          <p:cNvSpPr>
            <a:spLocks noGrp="1"/>
          </p:cNvSpPr>
          <p:nvPr/>
        </p:nvSpPr>
        <p:spPr>
          <a:xfrm>
            <a:off x="7667625" y="3181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Share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2063D72-6F13-46D0-8F7C-A5EAFFD0AF3D}"/>
              </a:ext>
            </a:extLst>
          </p:cNvPr>
          <p:cNvSpPr>
            <a:spLocks noGrp="1"/>
          </p:cNvSpPr>
          <p:nvPr/>
        </p:nvSpPr>
        <p:spPr>
          <a:xfrm>
            <a:off x="9601200" y="325755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pic>
        <p:nvPicPr>
          <p:cNvPr id="18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125075" y="3467100"/>
            <a:ext cx="381000" cy="381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B5DB0DE-49EC-43B3-9438-546BA1A3B4AD}"/>
              </a:ext>
            </a:extLst>
          </p:cNvPr>
          <p:cNvSpPr>
            <a:spLocks noGrp="1"/>
          </p:cNvSpPr>
          <p:nvPr/>
        </p:nvSpPr>
        <p:spPr>
          <a:xfrm>
            <a:off x="9744075" y="3962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Recover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C50950-FB89-4417-A761-2447749AB4AD}"/>
              </a:ext>
            </a:extLst>
          </p:cNvPr>
          <p:cNvSpPr>
            <a:spLocks noGrp="1"/>
          </p:cNvSpPr>
          <p:nvPr/>
        </p:nvSpPr>
        <p:spPr>
          <a:xfrm>
            <a:off x="1524000" y="51435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workflow keeps the scope practical: personal storage, safe deletion, temporary sharing, and quota awareness before team permissions or sync clients.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494E1D-B66D-4CCF-B797-E4E19F33CE71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CA7E54-B340-4A6B-9B45-041033E02D6A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AA8107-EC90-3591-0807-ECC7AFD4DAB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400300" y="3038475"/>
            <a:ext cx="685800" cy="80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B34E44-9DA1-7FF3-6559-2FCBBAC07F7B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4514850" y="3038475"/>
            <a:ext cx="800100" cy="78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24025C4-1313-7B6A-9F71-9E5DF810C202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6743700" y="3038475"/>
            <a:ext cx="781050" cy="78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507B4B-77A5-08D4-535E-407F0AA02696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8953500" y="3038475"/>
            <a:ext cx="647700" cy="78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22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0EDB035-5CC9-4D72-8D3C-583114C633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7FEE689-1FED-4300-BEAB-7E4EEA6CC252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65A7932-39B6-4C18-BF0B-F142CC32521A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FILE 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ABAE77-888F-42F0-AE31-20711E6D1443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File Explorer is the center of the product experience.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700ACB-1AB8-4090-8B05-350375CDC937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7239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4C029-8834-42FB-B895-FA77AD823675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7239000" cy="5524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236EC-A5A2-40AB-B7E4-85C400528972}"/>
              </a:ext>
            </a:extLst>
          </p:cNvPr>
          <p:cNvSpPr>
            <a:spLocks noGrp="1"/>
          </p:cNvSpPr>
          <p:nvPr/>
        </p:nvSpPr>
        <p:spPr>
          <a:xfrm>
            <a:off x="1162050" y="23241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Breadcrumbs  /  Projects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59F8A7-62B7-44A9-8ACC-B578BADE115C}"/>
              </a:ext>
            </a:extLst>
          </p:cNvPr>
          <p:cNvSpPr>
            <a:spLocks noGrp="1"/>
          </p:cNvSpPr>
          <p:nvPr/>
        </p:nvSpPr>
        <p:spPr>
          <a:xfrm>
            <a:off x="6115050" y="2305050"/>
            <a:ext cx="1447800" cy="247650"/>
          </a:xfrm>
          <a:prstGeom prst="roundRect">
            <a:avLst>
              <a:gd name="adj" fmla="val 30769"/>
            </a:avLst>
          </a:prstGeom>
          <a:solidFill>
            <a:srgbClr val="EEF4FF"/>
          </a:solidFill>
          <a:ln w="9525">
            <a:solidFill>
              <a:srgbClr val="BFD3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F4FEB8-16D1-4156-BD7C-5EBD689B248E}"/>
              </a:ext>
            </a:extLst>
          </p:cNvPr>
          <p:cNvSpPr>
            <a:spLocks noGrp="1"/>
          </p:cNvSpPr>
          <p:nvPr/>
        </p:nvSpPr>
        <p:spPr>
          <a:xfrm>
            <a:off x="6343650" y="235267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708B72-8887-4C5F-8E94-290C987D56F0}"/>
              </a:ext>
            </a:extLst>
          </p:cNvPr>
          <p:cNvSpPr>
            <a:spLocks noGrp="1"/>
          </p:cNvSpPr>
          <p:nvPr/>
        </p:nvSpPr>
        <p:spPr>
          <a:xfrm>
            <a:off x="1143000" y="3000375"/>
            <a:ext cx="6667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B20AD4-21C3-4DA9-8438-5ACC2191CE25}"/>
              </a:ext>
            </a:extLst>
          </p:cNvPr>
          <p:cNvSpPr>
            <a:spLocks noGrp="1"/>
          </p:cNvSpPr>
          <p:nvPr/>
        </p:nvSpPr>
        <p:spPr>
          <a:xfrm>
            <a:off x="1219200" y="3143250"/>
            <a:ext cx="400050" cy="266700"/>
          </a:xfrm>
          <a:prstGeom prst="roundRect">
            <a:avLst>
              <a:gd name="adj" fmla="val 28571"/>
            </a:avLst>
          </a:prstGeom>
          <a:solidFill>
            <a:srgbClr val="F59E0B">
              <a:alpha val="13333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400BFB-B057-46E3-B64E-78F2F8A8D28E}"/>
              </a:ext>
            </a:extLst>
          </p:cNvPr>
          <p:cNvSpPr>
            <a:spLocks noGrp="1"/>
          </p:cNvSpPr>
          <p:nvPr/>
        </p:nvSpPr>
        <p:spPr>
          <a:xfrm>
            <a:off x="1295400" y="31908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Folder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22C1CD-654B-4DD2-92C5-56DEA91C053B}"/>
              </a:ext>
            </a:extLst>
          </p:cNvPr>
          <p:cNvSpPr>
            <a:spLocks noGrp="1"/>
          </p:cNvSpPr>
          <p:nvPr/>
        </p:nvSpPr>
        <p:spPr>
          <a:xfrm>
            <a:off x="1847850" y="30765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Designs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4E75F3-5BCD-4A7E-A3E8-3D5731469DF8}"/>
              </a:ext>
            </a:extLst>
          </p:cNvPr>
          <p:cNvSpPr>
            <a:spLocks noGrp="1"/>
          </p:cNvSpPr>
          <p:nvPr/>
        </p:nvSpPr>
        <p:spPr>
          <a:xfrm>
            <a:off x="1847850" y="330517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3 files · 2 folders · 48 MB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4B7502-DEF8-40B3-8A41-D7589293467C}"/>
              </a:ext>
            </a:extLst>
          </p:cNvPr>
          <p:cNvSpPr>
            <a:spLocks noGrp="1"/>
          </p:cNvSpPr>
          <p:nvPr/>
        </p:nvSpPr>
        <p:spPr>
          <a:xfrm>
            <a:off x="5715000" y="31718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rename  move  share  delete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D97AE3-94AC-4C08-91CD-807C2608112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6667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08CECC0-DF20-40F4-9B5A-44CE7AFC8ECE}"/>
              </a:ext>
            </a:extLst>
          </p:cNvPr>
          <p:cNvSpPr>
            <a:spLocks noGrp="1"/>
          </p:cNvSpPr>
          <p:nvPr/>
        </p:nvSpPr>
        <p:spPr>
          <a:xfrm>
            <a:off x="1219200" y="3695700"/>
            <a:ext cx="400050" cy="266700"/>
          </a:xfrm>
          <a:prstGeom prst="roundRect">
            <a:avLst>
              <a:gd name="adj" fmla="val 28571"/>
            </a:avLst>
          </a:prstGeom>
          <a:solidFill>
            <a:srgbClr val="2563EB">
              <a:alpha val="13333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EE7959-EA93-43A6-BF71-C8EEFF331F92}"/>
              </a:ext>
            </a:extLst>
          </p:cNvPr>
          <p:cNvSpPr>
            <a:spLocks noGrp="1"/>
          </p:cNvSpPr>
          <p:nvPr/>
        </p:nvSpPr>
        <p:spPr>
          <a:xfrm>
            <a:off x="1295400" y="374332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AE17C2-5779-44EA-9887-5E012A2B97FA}"/>
              </a:ext>
            </a:extLst>
          </p:cNvPr>
          <p:cNvSpPr>
            <a:spLocks noGrp="1"/>
          </p:cNvSpPr>
          <p:nvPr/>
        </p:nvSpPr>
        <p:spPr>
          <a:xfrm>
            <a:off x="1847850" y="362902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project-notes.txt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4C4D10-03F2-4EBC-B85D-26739EA1F07A}"/>
              </a:ext>
            </a:extLst>
          </p:cNvPr>
          <p:cNvSpPr>
            <a:spLocks noGrp="1"/>
          </p:cNvSpPr>
          <p:nvPr/>
        </p:nvSpPr>
        <p:spPr>
          <a:xfrm>
            <a:off x="1847850" y="385762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12 KB · shared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9C244E-77DC-47C0-B50C-CFBBC7B1123B}"/>
              </a:ext>
            </a:extLst>
          </p:cNvPr>
          <p:cNvSpPr>
            <a:spLocks noGrp="1"/>
          </p:cNvSpPr>
          <p:nvPr/>
        </p:nvSpPr>
        <p:spPr>
          <a:xfrm>
            <a:off x="5715000" y="37242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rename  move  share  delete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F3AC8-B40B-439A-A1B5-F40B91FA6EE4}"/>
              </a:ext>
            </a:extLst>
          </p:cNvPr>
          <p:cNvSpPr>
            <a:spLocks noGrp="1"/>
          </p:cNvSpPr>
          <p:nvPr/>
        </p:nvSpPr>
        <p:spPr>
          <a:xfrm>
            <a:off x="1143000" y="4105275"/>
            <a:ext cx="6667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6E638B1-58E6-4266-95DD-4613B3F01FB9}"/>
              </a:ext>
            </a:extLst>
          </p:cNvPr>
          <p:cNvSpPr>
            <a:spLocks noGrp="1"/>
          </p:cNvSpPr>
          <p:nvPr/>
        </p:nvSpPr>
        <p:spPr>
          <a:xfrm>
            <a:off x="1219200" y="4248150"/>
            <a:ext cx="400050" cy="266700"/>
          </a:xfrm>
          <a:prstGeom prst="roundRect">
            <a:avLst>
              <a:gd name="adj" fmla="val 28571"/>
            </a:avLst>
          </a:prstGeom>
          <a:solidFill>
            <a:srgbClr val="DC2626">
              <a:alpha val="13333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BCC07-6BFB-4121-85B8-0396C025F12C}"/>
              </a:ext>
            </a:extLst>
          </p:cNvPr>
          <p:cNvSpPr>
            <a:spLocks noGrp="1"/>
          </p:cNvSpPr>
          <p:nvPr/>
        </p:nvSpPr>
        <p:spPr>
          <a:xfrm>
            <a:off x="1295400" y="42957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C7441A-517B-4898-B1A0-1D58AA1B4EB1}"/>
              </a:ext>
            </a:extLst>
          </p:cNvPr>
          <p:cNvSpPr>
            <a:spLocks noGrp="1"/>
          </p:cNvSpPr>
          <p:nvPr/>
        </p:nvSpPr>
        <p:spPr>
          <a:xfrm>
            <a:off x="1847850" y="41814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proposal.pdf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9BB95A-F712-4E54-846E-95BB57EE3E28}"/>
              </a:ext>
            </a:extLst>
          </p:cNvPr>
          <p:cNvSpPr>
            <a:spLocks noGrp="1"/>
          </p:cNvSpPr>
          <p:nvPr/>
        </p:nvSpPr>
        <p:spPr>
          <a:xfrm>
            <a:off x="1847850" y="441007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2.4 MB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B3F70B-5767-4690-8BB9-202589A73B82}"/>
              </a:ext>
            </a:extLst>
          </p:cNvPr>
          <p:cNvSpPr>
            <a:spLocks noGrp="1"/>
          </p:cNvSpPr>
          <p:nvPr/>
        </p:nvSpPr>
        <p:spPr>
          <a:xfrm>
            <a:off x="5715000" y="42767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rename  move  share  delete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947915-973A-424E-A2A0-D38D0B5D392F}"/>
              </a:ext>
            </a:extLst>
          </p:cNvPr>
          <p:cNvSpPr>
            <a:spLocks noGrp="1"/>
          </p:cNvSpPr>
          <p:nvPr/>
        </p:nvSpPr>
        <p:spPr>
          <a:xfrm>
            <a:off x="1143000" y="4657725"/>
            <a:ext cx="6667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3412C63-68AF-4898-AF7E-886036B98095}"/>
              </a:ext>
            </a:extLst>
          </p:cNvPr>
          <p:cNvSpPr>
            <a:spLocks noGrp="1"/>
          </p:cNvSpPr>
          <p:nvPr/>
        </p:nvSpPr>
        <p:spPr>
          <a:xfrm>
            <a:off x="1219200" y="4800600"/>
            <a:ext cx="400050" cy="266700"/>
          </a:xfrm>
          <a:prstGeom prst="roundRect">
            <a:avLst>
              <a:gd name="adj" fmla="val 28571"/>
            </a:avLst>
          </a:prstGeom>
          <a:solidFill>
            <a:srgbClr val="16A34A">
              <a:alpha val="13333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CEC960-F5B1-415B-B667-55170CD78A62}"/>
              </a:ext>
            </a:extLst>
          </p:cNvPr>
          <p:cNvSpPr>
            <a:spLocks noGrp="1"/>
          </p:cNvSpPr>
          <p:nvPr/>
        </p:nvSpPr>
        <p:spPr>
          <a:xfrm>
            <a:off x="1295400" y="484822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443522-A707-4A31-B6D7-49949D1CA593}"/>
              </a:ext>
            </a:extLst>
          </p:cNvPr>
          <p:cNvSpPr>
            <a:spLocks noGrp="1"/>
          </p:cNvSpPr>
          <p:nvPr/>
        </p:nvSpPr>
        <p:spPr>
          <a:xfrm>
            <a:off x="1847850" y="473392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mockup.png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9002A5-5965-4611-B45D-0D839463174D}"/>
              </a:ext>
            </a:extLst>
          </p:cNvPr>
          <p:cNvSpPr>
            <a:spLocks noGrp="1"/>
          </p:cNvSpPr>
          <p:nvPr/>
        </p:nvSpPr>
        <p:spPr>
          <a:xfrm>
            <a:off x="1847850" y="496252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840 KB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D21F3A-E3C8-4452-932A-FE5099AC52B1}"/>
              </a:ext>
            </a:extLst>
          </p:cNvPr>
          <p:cNvSpPr>
            <a:spLocks noGrp="1"/>
          </p:cNvSpPr>
          <p:nvPr/>
        </p:nvSpPr>
        <p:spPr>
          <a:xfrm>
            <a:off x="5715000" y="48291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rename  move  share  delete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94ABE54-19AD-496F-A4DF-08ED74963751}"/>
              </a:ext>
            </a:extLst>
          </p:cNvPr>
          <p:cNvSpPr>
            <a:spLocks noGrp="1"/>
          </p:cNvSpPr>
          <p:nvPr/>
        </p:nvSpPr>
        <p:spPr>
          <a:xfrm>
            <a:off x="8667750" y="236220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9525">
            <a:solidFill>
              <a:srgbClr val="BFD3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8268C-DADB-428D-A9EB-F4912647DBAF}"/>
              </a:ext>
            </a:extLst>
          </p:cNvPr>
          <p:cNvSpPr>
            <a:spLocks noGrp="1"/>
          </p:cNvSpPr>
          <p:nvPr/>
        </p:nvSpPr>
        <p:spPr>
          <a:xfrm>
            <a:off x="8896350" y="25717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HTMX folder navigation removes full reloads.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A0BADC6-74DA-4845-A1E3-E105770A6AD8}"/>
              </a:ext>
            </a:extLst>
          </p:cNvPr>
          <p:cNvSpPr>
            <a:spLocks noGrp="1"/>
          </p:cNvSpPr>
          <p:nvPr/>
        </p:nvSpPr>
        <p:spPr>
          <a:xfrm>
            <a:off x="8667750" y="34480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9525">
            <a:solidFill>
              <a:srgbClr val="B8E6C6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EF5D0B-903A-43A3-AEB1-9A73C6D955E8}"/>
              </a:ext>
            </a:extLst>
          </p:cNvPr>
          <p:cNvSpPr>
            <a:spLocks noGrp="1"/>
          </p:cNvSpPr>
          <p:nvPr/>
        </p:nvSpPr>
        <p:spPr>
          <a:xfrm>
            <a:off x="8896350" y="365760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Modal upload includes drag-and-drop previews.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935BA56-0727-4BCC-85B0-B618C57DF213}"/>
              </a:ext>
            </a:extLst>
          </p:cNvPr>
          <p:cNvSpPr>
            <a:spLocks noGrp="1"/>
          </p:cNvSpPr>
          <p:nvPr/>
        </p:nvSpPr>
        <p:spPr>
          <a:xfrm>
            <a:off x="8667750" y="453390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8F1261-F2ED-4300-8F94-4388E4E69403}"/>
              </a:ext>
            </a:extLst>
          </p:cNvPr>
          <p:cNvSpPr>
            <a:spLocks noGrp="1"/>
          </p:cNvSpPr>
          <p:nvPr/>
        </p:nvSpPr>
        <p:spPr>
          <a:xfrm>
            <a:off x="8896350" y="47434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Rows expose action icons without heavy UI chrome.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3416A9-5936-4715-BD0B-4F5E65A4F009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7D194D-F3ED-4206-BE5B-E013D8FF60FD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3421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3D90D91-14B4-4E89-83D6-D996495B670C}"/>
              </a:ext>
            </a:extLst>
          </p:cNvPr>
          <p:cNvSpPr>
            <a:spLocks noGrp="1"/>
          </p:cNvSpPr>
          <p:nvPr/>
        </p:nvSpPr>
        <p:spPr>
          <a:xfrm>
            <a:off x="0" y="1019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ACA22FB-7439-4B4E-9F40-05892E81A390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24B1871-89E7-4494-B7AA-4E9740241877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SHARING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629E1D-643F-4DE6-9F1F-A72FCADD0356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Sharing is temporary, explicit, and reversible.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156C48-78F6-486A-93C9-398CB97C5664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095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4BA7F-4867-492C-BC90-DD0C2FE9BB5C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0955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AFD26A-7F9A-49E6-8036-7505F0FE4DC2}"/>
              </a:ext>
            </a:extLst>
          </p:cNvPr>
          <p:cNvSpPr>
            <a:spLocks noGrp="1"/>
          </p:cNvSpPr>
          <p:nvPr/>
        </p:nvSpPr>
        <p:spPr>
          <a:xfrm>
            <a:off x="1009650" y="28765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Create / reuse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CAAA5D-E872-4F00-B9A0-1C2A29986D7A}"/>
              </a:ext>
            </a:extLst>
          </p:cNvPr>
          <p:cNvSpPr>
            <a:spLocks noGrp="1"/>
          </p:cNvSpPr>
          <p:nvPr/>
        </p:nvSpPr>
        <p:spPr>
          <a:xfrm>
            <a:off x="1009650" y="3295650"/>
            <a:ext cx="1638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Existing active links are reused to avoid accidental link churn.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7447DB-0290-442B-878A-3430458417AD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2095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F24A8-2021-42BE-9E6C-FCDDF1A11E95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2095500" cy="7620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E14E01-3CD2-46BF-905B-11E079C4B860}"/>
              </a:ext>
            </a:extLst>
          </p:cNvPr>
          <p:cNvSpPr>
            <a:spLocks noGrp="1"/>
          </p:cNvSpPr>
          <p:nvPr/>
        </p:nvSpPr>
        <p:spPr>
          <a:xfrm>
            <a:off x="3733800" y="28765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QR + copy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23D0D-D82D-4A91-9D30-17EAB5B8DEFC}"/>
              </a:ext>
            </a:extLst>
          </p:cNvPr>
          <p:cNvSpPr>
            <a:spLocks noGrp="1"/>
          </p:cNvSpPr>
          <p:nvPr/>
        </p:nvSpPr>
        <p:spPr>
          <a:xfrm>
            <a:off x="3733800" y="3295650"/>
            <a:ext cx="1638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Share modal exposes public page and direct download URLs.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754CC27-9B2A-4097-96FA-9EEDBD79C3FF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2095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B142AE-EA2A-47BD-996E-1C87F5D79FA4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2095500" cy="7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6952D5-6DAD-4369-8E42-55440EC7A3CA}"/>
              </a:ext>
            </a:extLst>
          </p:cNvPr>
          <p:cNvSpPr>
            <a:spLocks noGrp="1"/>
          </p:cNvSpPr>
          <p:nvPr/>
        </p:nvSpPr>
        <p:spPr>
          <a:xfrm>
            <a:off x="6457950" y="28765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Countdown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2D95F4-E63C-4EAF-A430-2A39997C8052}"/>
              </a:ext>
            </a:extLst>
          </p:cNvPr>
          <p:cNvSpPr>
            <a:spLocks noGrp="1"/>
          </p:cNvSpPr>
          <p:nvPr/>
        </p:nvSpPr>
        <p:spPr>
          <a:xfrm>
            <a:off x="6457950" y="3295650"/>
            <a:ext cx="1638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Expiration is visible in rows and public share pages.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E2CFA3F-EE5C-4E12-AD43-B7B106D05C10}"/>
              </a:ext>
            </a:extLst>
          </p:cNvPr>
          <p:cNvSpPr>
            <a:spLocks noGrp="1"/>
          </p:cNvSpPr>
          <p:nvPr/>
        </p:nvSpPr>
        <p:spPr>
          <a:xfrm>
            <a:off x="8972550" y="2571750"/>
            <a:ext cx="2095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E8AB11-D598-4469-B645-4B766E3C7F0F}"/>
              </a:ext>
            </a:extLst>
          </p:cNvPr>
          <p:cNvSpPr>
            <a:spLocks noGrp="1"/>
          </p:cNvSpPr>
          <p:nvPr/>
        </p:nvSpPr>
        <p:spPr>
          <a:xfrm>
            <a:off x="8972550" y="2571750"/>
            <a:ext cx="2095500" cy="762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F54F7A-EC1B-4BFC-9DBE-FDCF8812DB09}"/>
              </a:ext>
            </a:extLst>
          </p:cNvPr>
          <p:cNvSpPr>
            <a:spLocks noGrp="1"/>
          </p:cNvSpPr>
          <p:nvPr/>
        </p:nvSpPr>
        <p:spPr>
          <a:xfrm>
            <a:off x="9182100" y="28765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Unshare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6E9C5D-B9FC-4381-BA8F-9EEF3B3BAE04}"/>
              </a:ext>
            </a:extLst>
          </p:cNvPr>
          <p:cNvSpPr>
            <a:spLocks noGrp="1"/>
          </p:cNvSpPr>
          <p:nvPr/>
        </p:nvSpPr>
        <p:spPr>
          <a:xfrm>
            <a:off x="9182100" y="3295650"/>
            <a:ext cx="1638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Active shares can be removed from the modal or row.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6A12C5-DE53-4D91-86E8-549D8B0A38D6}"/>
              </a:ext>
            </a:extLst>
          </p:cNvPr>
          <p:cNvSpPr>
            <a:spLocks noGrp="1"/>
          </p:cNvSpPr>
          <p:nvPr/>
        </p:nvSpPr>
        <p:spPr>
          <a:xfrm>
            <a:off x="1333500" y="49530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Implementation: FileShare rows store generated tokens and expiration timestamps. Public links return an expired page when the token is no longer valid.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202812-7DE4-4D75-A17C-9E1F55D4609F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088AB4-F92E-4C8F-82AF-BD57C519AA20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E302E6-E1B9-38BA-50B3-B76BB368E3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895600" y="3419475"/>
            <a:ext cx="628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5DB2B-C143-586E-9BFF-12832674A0D3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5619750" y="3419475"/>
            <a:ext cx="628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220A63-E19C-F3DA-52F9-7C828CAF7F7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343900" y="3419475"/>
            <a:ext cx="62865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4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6618366-B070-4153-B650-4FA77EB499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A54DCC7-DBAB-46CD-A156-68FBEE5E434F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5DD22CA-A2F4-4A4D-A44D-DC3F368CA6E6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TRASH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04B7E3-40B3-477A-893C-C7D7F09732B3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Trash changes delete from a risk into a recoverable action.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B47B99-2E30-47D6-BD0D-6B127AAA3879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1809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653D3-BBD9-432D-9489-AF20C5CDCB22}"/>
              </a:ext>
            </a:extLst>
          </p:cNvPr>
          <p:cNvSpPr>
            <a:spLocks noGrp="1"/>
          </p:cNvSpPr>
          <p:nvPr/>
        </p:nvSpPr>
        <p:spPr>
          <a:xfrm>
            <a:off x="1219200" y="33718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Active item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584F7-4FBD-406D-AB6C-9131E6D34F7F}"/>
              </a:ext>
            </a:extLst>
          </p:cNvPr>
          <p:cNvSpPr>
            <a:spLocks noGrp="1"/>
          </p:cNvSpPr>
          <p:nvPr/>
        </p:nvSpPr>
        <p:spPr>
          <a:xfrm>
            <a:off x="1219200" y="371475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Visible in File Explorer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77D4B4-1654-4E39-898C-3DE71771297A}"/>
              </a:ext>
            </a:extLst>
          </p:cNvPr>
          <p:cNvSpPr>
            <a:spLocks noGrp="1"/>
          </p:cNvSpPr>
          <p:nvPr/>
        </p:nvSpPr>
        <p:spPr>
          <a:xfrm>
            <a:off x="3905250" y="3162300"/>
            <a:ext cx="1809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F8AEB4-1183-4C0E-95CF-3B023C531EF6}"/>
              </a:ext>
            </a:extLst>
          </p:cNvPr>
          <p:cNvSpPr>
            <a:spLocks noGrp="1"/>
          </p:cNvSpPr>
          <p:nvPr/>
        </p:nvSpPr>
        <p:spPr>
          <a:xfrm>
            <a:off x="4076700" y="33718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Soft deleted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9CBD60-98CE-40AC-BB50-3448C126BCBA}"/>
              </a:ext>
            </a:extLst>
          </p:cNvPr>
          <p:cNvSpPr>
            <a:spLocks noGrp="1"/>
          </p:cNvSpPr>
          <p:nvPr/>
        </p:nvSpPr>
        <p:spPr>
          <a:xfrm>
            <a:off x="4076700" y="371475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Hidden from Explorer; still counts as storage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F77029-E3EC-4389-B4B9-63B5BE20BA31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1809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4DB62C-B69D-48E8-91A5-ACCDB8E6A1D8}"/>
              </a:ext>
            </a:extLst>
          </p:cNvPr>
          <p:cNvSpPr>
            <a:spLocks noGrp="1"/>
          </p:cNvSpPr>
          <p:nvPr/>
        </p:nvSpPr>
        <p:spPr>
          <a:xfrm>
            <a:off x="6934200" y="33718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Restored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96941D-B1F5-4810-A33A-DAEA6326F168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Returns to the drive, or root if parent was removed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72B0F1-F9E1-4104-9FA3-EB2E846A8825}"/>
              </a:ext>
            </a:extLst>
          </p:cNvPr>
          <p:cNvSpPr>
            <a:spLocks noGrp="1"/>
          </p:cNvSpPr>
          <p:nvPr/>
        </p:nvSpPr>
        <p:spPr>
          <a:xfrm>
            <a:off x="9620250" y="3162300"/>
            <a:ext cx="1809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A7037D-6423-469D-A740-19254CBC7DD4}"/>
              </a:ext>
            </a:extLst>
          </p:cNvPr>
          <p:cNvSpPr>
            <a:spLocks noGrp="1"/>
          </p:cNvSpPr>
          <p:nvPr/>
        </p:nvSpPr>
        <p:spPr>
          <a:xfrm>
            <a:off x="9791700" y="33718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Deleted forever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F75ABE-F466-476A-8B4C-7A9B904D26AE}"/>
              </a:ext>
            </a:extLst>
          </p:cNvPr>
          <p:cNvSpPr>
            <a:spLocks noGrp="1"/>
          </p:cNvSpPr>
          <p:nvPr/>
        </p:nvSpPr>
        <p:spPr>
          <a:xfrm>
            <a:off x="9791700" y="371475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Database row and physical file are removed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E44E19-B06A-4D7F-958D-981B53021E80}"/>
              </a:ext>
            </a:extLst>
          </p:cNvPr>
          <p:cNvSpPr>
            <a:spLocks noGrp="1"/>
          </p:cNvSpPr>
          <p:nvPr/>
        </p:nvSpPr>
        <p:spPr>
          <a:xfrm>
            <a:off x="2286000" y="4953000"/>
            <a:ext cx="723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Empty Trash removes all trashed files and folders for the current user only.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A195BA-502F-4697-967A-65B1E1601DD6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CB700D-F1BC-4872-94D5-6F5B1AC01CAC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47722F-A785-669C-3B36-F36BF82061C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857500" y="3781425"/>
            <a:ext cx="1047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2CE262-130B-CE11-A054-734C3DF899C9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5715000" y="3781425"/>
            <a:ext cx="1047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35F4E4-E720-A4B2-5EEB-B0B1E1B30811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8572500" y="3781425"/>
            <a:ext cx="1047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941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51A575A-50AC-4974-80F5-4EE695C95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A5D9965-9101-4C1B-B1C4-917FFDA6E20E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4EC2D7A-7E9D-44FD-9032-11BD153311DC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STORAGE PLANS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46BC1-6C70-4A8B-AF42-B8FB1E695928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Quotas make the product plan-aware without complicating uploads.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BAEB30-679D-4A18-ADE9-DF26F3C39237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2000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4946CC-B8AE-4567-B864-8F0FC3A46EC3}"/>
              </a:ext>
            </a:extLst>
          </p:cNvPr>
          <p:cNvSpPr>
            <a:spLocks noGrp="1"/>
          </p:cNvSpPr>
          <p:nvPr/>
        </p:nvSpPr>
        <p:spPr>
          <a:xfrm>
            <a:off x="1295400" y="28765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CC9BC-E2A1-4BC2-9025-C2AFC23EB3DB}"/>
              </a:ext>
            </a:extLst>
          </p:cNvPr>
          <p:cNvSpPr>
            <a:spLocks noGrp="1"/>
          </p:cNvSpPr>
          <p:nvPr/>
        </p:nvSpPr>
        <p:spPr>
          <a:xfrm>
            <a:off x="1295400" y="3276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 GB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A6ECFA-B18F-4C43-9A10-CEF68C3D74AE}"/>
              </a:ext>
            </a:extLst>
          </p:cNvPr>
          <p:cNvSpPr>
            <a:spLocks noGrp="1"/>
          </p:cNvSpPr>
          <p:nvPr/>
        </p:nvSpPr>
        <p:spPr>
          <a:xfrm>
            <a:off x="1295400" y="3771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Assigned in Django admin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BD3B21-5F1A-443C-BC62-A52BD937EB14}"/>
              </a:ext>
            </a:extLst>
          </p:cNvPr>
          <p:cNvSpPr>
            <a:spLocks noGrp="1"/>
          </p:cNvSpPr>
          <p:nvPr/>
        </p:nvSpPr>
        <p:spPr>
          <a:xfrm>
            <a:off x="3524250" y="2590800"/>
            <a:ext cx="2000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477C2D-1605-406F-813B-BF12EA305F95}"/>
              </a:ext>
            </a:extLst>
          </p:cNvPr>
          <p:cNvSpPr>
            <a:spLocks noGrp="1"/>
          </p:cNvSpPr>
          <p:nvPr/>
        </p:nvSpPr>
        <p:spPr>
          <a:xfrm>
            <a:off x="3771900" y="28765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A042AF-65CE-4FCC-981B-15F2A5FA134E}"/>
              </a:ext>
            </a:extLst>
          </p:cNvPr>
          <p:cNvSpPr>
            <a:spLocks noGrp="1"/>
          </p:cNvSpPr>
          <p:nvPr/>
        </p:nvSpPr>
        <p:spPr>
          <a:xfrm>
            <a:off x="3771900" y="3276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10 GB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F63F3-5AB6-45F1-A982-96F1CDA64C86}"/>
              </a:ext>
            </a:extLst>
          </p:cNvPr>
          <p:cNvSpPr>
            <a:spLocks noGrp="1"/>
          </p:cNvSpPr>
          <p:nvPr/>
        </p:nvSpPr>
        <p:spPr>
          <a:xfrm>
            <a:off x="3771900" y="3771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Assigned in Django admin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878A3AF-8FB5-4953-94B1-544F398073B1}"/>
              </a:ext>
            </a:extLst>
          </p:cNvPr>
          <p:cNvSpPr>
            <a:spLocks noGrp="1"/>
          </p:cNvSpPr>
          <p:nvPr/>
        </p:nvSpPr>
        <p:spPr>
          <a:xfrm>
            <a:off x="6000750" y="2590800"/>
            <a:ext cx="2000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9ED739-613D-409C-BE96-1B61EB805080}"/>
              </a:ext>
            </a:extLst>
          </p:cNvPr>
          <p:cNvSpPr>
            <a:spLocks noGrp="1"/>
          </p:cNvSpPr>
          <p:nvPr/>
        </p:nvSpPr>
        <p:spPr>
          <a:xfrm>
            <a:off x="6248400" y="28765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B503CB-8DD0-4359-804D-62C849421AB7}"/>
              </a:ext>
            </a:extLst>
          </p:cNvPr>
          <p:cNvSpPr>
            <a:spLocks noGrp="1"/>
          </p:cNvSpPr>
          <p:nvPr/>
        </p:nvSpPr>
        <p:spPr>
          <a:xfrm>
            <a:off x="6248400" y="3276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 TB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9E0812-643C-4D01-B14C-437E004B714C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Assigned in Django admin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3EDA446-9E94-46ED-A11C-CCB74A6985FA}"/>
              </a:ext>
            </a:extLst>
          </p:cNvPr>
          <p:cNvSpPr>
            <a:spLocks noGrp="1"/>
          </p:cNvSpPr>
          <p:nvPr/>
        </p:nvSpPr>
        <p:spPr>
          <a:xfrm>
            <a:off x="8667750" y="2590800"/>
            <a:ext cx="2286000" cy="1828800"/>
          </a:xfrm>
          <a:prstGeom prst="roundRect">
            <a:avLst>
              <a:gd name="adj" fmla="val 4167"/>
            </a:avLst>
          </a:prstGeom>
          <a:solidFill>
            <a:srgbClr val="EEF4FF"/>
          </a:solidFill>
          <a:ln w="9525">
            <a:solidFill>
              <a:srgbClr val="BFD3F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1A7639-9683-4BB5-911E-D050FD7041FF}"/>
              </a:ext>
            </a:extLst>
          </p:cNvPr>
          <p:cNvSpPr>
            <a:spLocks noGrp="1"/>
          </p:cNvSpPr>
          <p:nvPr/>
        </p:nvSpPr>
        <p:spPr>
          <a:xfrm>
            <a:off x="8953500" y="28765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Upload check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A0754D-7C53-4446-8F45-D476864AAD80}"/>
              </a:ext>
            </a:extLst>
          </p:cNvPr>
          <p:cNvSpPr>
            <a:spLocks noGrp="1"/>
          </p:cNvSpPr>
          <p:nvPr/>
        </p:nvSpPr>
        <p:spPr>
          <a:xfrm>
            <a:off x="8953500" y="3276600"/>
            <a:ext cx="16954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Before creating a File row, the server compares current storage usage plus upload size against the user's StorageQuote.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E8279B-155B-49A8-BB9D-B9A1C967412E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809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Dashboard surfaces plan, used space, remaining storage, and warnings at high usage.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E35936-1FDC-46B3-8D57-26AF35DBF908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602A11-778D-4076-9CFD-B7623E4B6EE4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392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08690F-3CC5-4C63-B38B-00C0F83A76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6643362-5513-42B7-A95A-112CD02AA97A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3819BE7-56BF-458C-AD9A-1AFA2F9A75B3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INTERACTION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526DED-3411-466C-8FC1-21BCD438985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HTMX keeps the UI responsive without a frontend build pipeline.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F6976B-1EE4-470C-83EB-B4C0D4CFD34E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B6ED5-F2ED-4829-AF62-5871A996C9E7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5173CB-EF14-42CA-AF32-796C20A30E98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DaisyUI + HTMX + vanilla JS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323FC2-B1C4-49D5-A7B3-3860C7E1E6E6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83EC5-1476-4802-9D0B-AAF55783CBC3}"/>
              </a:ext>
            </a:extLst>
          </p:cNvPr>
          <p:cNvSpPr>
            <a:spLocks noGrp="1"/>
          </p:cNvSpPr>
          <p:nvPr/>
        </p:nvSpPr>
        <p:spPr>
          <a:xfrm>
            <a:off x="4191000" y="32766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6A34A"/>
                </a:solidFill>
                <a:latin typeface="Aptos"/>
                <a:ea typeface="Aptos"/>
                <a:cs typeface="Aptos"/>
              </a:rPr>
              <a:t>Django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C9F75A-15A5-47EC-8982-7FC5C7E1B3A6}"/>
              </a:ext>
            </a:extLst>
          </p:cNvPr>
          <p:cNvSpPr>
            <a:spLocks noGrp="1"/>
          </p:cNvSpPr>
          <p:nvPr/>
        </p:nvSpPr>
        <p:spPr>
          <a:xfrm>
            <a:off x="4191000" y="36195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validates, saves, queries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86C3BED-52C5-49C2-862C-2EB34EB8F8B6}"/>
              </a:ext>
            </a:extLst>
          </p:cNvPr>
          <p:cNvSpPr>
            <a:spLocks noGrp="1"/>
          </p:cNvSpPr>
          <p:nvPr/>
        </p:nvSpPr>
        <p:spPr>
          <a:xfrm>
            <a:off x="7048500" y="304800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31635D-14E5-4249-A115-97EC6BD39520}"/>
              </a:ext>
            </a:extLst>
          </p:cNvPr>
          <p:cNvSpPr>
            <a:spLocks noGrp="1"/>
          </p:cNvSpPr>
          <p:nvPr/>
        </p:nvSpPr>
        <p:spPr>
          <a:xfrm>
            <a:off x="7239000" y="32766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Partial template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AF9038-0832-42D2-A9FD-27C9E6A0ACCD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file list, modal, toast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5F1EDA-D985-4D77-8B4A-7AB683488AE0}"/>
              </a:ext>
            </a:extLst>
          </p:cNvPr>
          <p:cNvSpPr>
            <a:spLocks noGrp="1"/>
          </p:cNvSpPr>
          <p:nvPr/>
        </p:nvSpPr>
        <p:spPr>
          <a:xfrm>
            <a:off x="9525000" y="304800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D05396-B188-4829-B09F-0F14ACD02BEB}"/>
              </a:ext>
            </a:extLst>
          </p:cNvPr>
          <p:cNvSpPr>
            <a:spLocks noGrp="1"/>
          </p:cNvSpPr>
          <p:nvPr/>
        </p:nvSpPr>
        <p:spPr>
          <a:xfrm>
            <a:off x="9715500" y="32766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Updated 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AD8311-5568-42EB-A74E-2C27E6B7E84A}"/>
              </a:ext>
            </a:extLst>
          </p:cNvPr>
          <p:cNvSpPr>
            <a:spLocks noGrp="1"/>
          </p:cNvSpPr>
          <p:nvPr/>
        </p:nvSpPr>
        <p:spPr>
          <a:xfrm>
            <a:off x="9715500" y="36195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OOB stats + toasts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0BB0DD-7ACE-44C3-8397-A4C66A72A2EF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8096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This is why folder navigation, upload feedback, delete/restore, share modals, and search feel app-like while staying server-rendered.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95B8AC-2B0E-4ED8-AE47-44A458BF014B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5CF419-9256-4974-864F-542AB6959700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0EDA0B-CB78-CA53-6545-9B3289D35822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762250" y="3629025"/>
            <a:ext cx="1238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23C669-A246-2A11-6FAE-0ECB305CC79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5810250" y="3629025"/>
            <a:ext cx="1238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C5165F0-5319-BEA0-6280-06BF76A6BFE0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8858250" y="3629025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928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36E7D90-F233-4B5F-9B8B-E80C3F920A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C694688-4851-416F-AD92-C2F05D650809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A06D78A-7DD4-45BF-B39A-82B6C4E0B7F2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3F67C-D0E8-40E3-BA09-85010DC686E9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Django remains the system of record.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ADD66F-0B18-4CCB-BC0A-8280B0028950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EEF4FF"/>
          </a:solidFill>
          <a:ln w="9525">
            <a:solidFill>
              <a:srgbClr val="BFD3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5DCBB-948E-402D-83D2-B3A513C9FC97}"/>
              </a:ext>
            </a:extLst>
          </p:cNvPr>
          <p:cNvSpPr>
            <a:spLocks noGrp="1"/>
          </p:cNvSpPr>
          <p:nvPr/>
        </p:nvSpPr>
        <p:spPr>
          <a:xfrm>
            <a:off x="1162050" y="28194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C2305E-13E1-4898-83CF-7FBB4ACAA67A}"/>
              </a:ext>
            </a:extLst>
          </p:cNvPr>
          <p:cNvSpPr>
            <a:spLocks noGrp="1"/>
          </p:cNvSpPr>
          <p:nvPr/>
        </p:nvSpPr>
        <p:spPr>
          <a:xfrm>
            <a:off x="1162050" y="3276600"/>
            <a:ext cx="1714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Custom user model, signup, login, admin plan assignment.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E05F6C-3D1E-46AC-A15B-C550E8617CB2}"/>
              </a:ext>
            </a:extLst>
          </p:cNvPr>
          <p:cNvSpPr>
            <a:spLocks noGrp="1"/>
          </p:cNvSpPr>
          <p:nvPr/>
        </p:nvSpPr>
        <p:spPr>
          <a:xfrm>
            <a:off x="3829050" y="2095500"/>
            <a:ext cx="2667000" cy="285750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9525">
            <a:solidFill>
              <a:srgbClr val="B8E6C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C5F58-DE04-4852-9EC3-386E730395FC}"/>
              </a:ext>
            </a:extLst>
          </p:cNvPr>
          <p:cNvSpPr>
            <a:spLocks noGrp="1"/>
          </p:cNvSpPr>
          <p:nvPr/>
        </p:nvSpPr>
        <p:spPr>
          <a:xfrm>
            <a:off x="4114800" y="24574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D68EF3-985D-45E0-893D-08F24F79A414}"/>
              </a:ext>
            </a:extLst>
          </p:cNvPr>
          <p:cNvSpPr>
            <a:spLocks noGrp="1"/>
          </p:cNvSpPr>
          <p:nvPr/>
        </p:nvSpPr>
        <p:spPr>
          <a:xfrm>
            <a:off x="4114800" y="2952750"/>
            <a:ext cx="2000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File, Folder, FileShare, StorageQuote; upload, move, rename, trash, restore, share.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693573-EFEE-4A15-98E8-251702D7723E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2000250" cy="209550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928DE-946C-479F-B410-CD8C5A351DB3}"/>
              </a:ext>
            </a:extLst>
          </p:cNvPr>
          <p:cNvSpPr>
            <a:spLocks noGrp="1"/>
          </p:cNvSpPr>
          <p:nvPr/>
        </p:nvSpPr>
        <p:spPr>
          <a:xfrm>
            <a:off x="7429500" y="28194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0E4494-ADD9-4924-B174-4FCD913AEABB}"/>
              </a:ext>
            </a:extLst>
          </p:cNvPr>
          <p:cNvSpPr>
            <a:spLocks noGrp="1"/>
          </p:cNvSpPr>
          <p:nvPr/>
        </p:nvSpPr>
        <p:spPr>
          <a:xfrm>
            <a:off x="7429500" y="3276600"/>
            <a:ext cx="1428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Metadata, ownership, shares, quotas, soft-delete state.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BECBFF0-D245-4452-B465-9AEC6EDA7AFD}"/>
              </a:ext>
            </a:extLst>
          </p:cNvPr>
          <p:cNvSpPr>
            <a:spLocks noGrp="1"/>
          </p:cNvSpPr>
          <p:nvPr/>
        </p:nvSpPr>
        <p:spPr>
          <a:xfrm>
            <a:off x="9620250" y="2476500"/>
            <a:ext cx="1619250" cy="2095500"/>
          </a:xfrm>
          <a:prstGeom prst="roundRect">
            <a:avLst>
              <a:gd name="adj" fmla="val 4706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57123A-4910-4BE9-BF07-AE7EA9686293}"/>
              </a:ext>
            </a:extLst>
          </p:cNvPr>
          <p:cNvSpPr>
            <a:spLocks noGrp="1"/>
          </p:cNvSpPr>
          <p:nvPr/>
        </p:nvSpPr>
        <p:spPr>
          <a:xfrm>
            <a:off x="9906000" y="28194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A02003-FE10-4258-A78B-B4C77BD73A6E}"/>
              </a:ext>
            </a:extLst>
          </p:cNvPr>
          <p:cNvSpPr>
            <a:spLocks noGrp="1"/>
          </p:cNvSpPr>
          <p:nvPr/>
        </p:nvSpPr>
        <p:spPr>
          <a:xfrm>
            <a:off x="9906000" y="3276600"/>
            <a:ext cx="1047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Uploaded binaries stored under generated user paths.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7C90FB-5FDD-48A5-95AF-532FDE475378}"/>
              </a:ext>
            </a:extLst>
          </p:cNvPr>
          <p:cNvSpPr>
            <a:spLocks noGrp="1"/>
          </p:cNvSpPr>
          <p:nvPr/>
        </p:nvSpPr>
        <p:spPr>
          <a:xfrm>
            <a:off x="1714500" y="5429250"/>
            <a:ext cx="8096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Timezone strategy keeps database storage in UTC while rendering visible dates in the browser's local timezone.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6EEFCD-0C86-47F2-A9B0-C5A5111B72B8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EE1B5C-44E1-4A03-84E0-4E9769D6A72A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985EDF-11A0-33D3-35FB-EE211FDBE147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257550" y="3524250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40DCBF4-2CCB-FDAB-7C35-491CCD57DF6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496050" y="3524250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AA0942-6F24-33CE-E484-CC2B53253501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9144000" y="3524250"/>
            <a:ext cx="476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31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42F769E-59D1-4B26-8082-660ABB41FF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45D5E49-34DC-4456-AB3D-C62FF7550C76}"/>
              </a:ext>
            </a:extLst>
          </p:cNvPr>
          <p:cNvSpPr>
            <a:spLocks noGrp="1"/>
          </p:cNvSpPr>
          <p:nvPr/>
        </p:nvSpPr>
        <p:spPr>
          <a:xfrm>
            <a:off x="552450" y="547688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79C82F8-FE1C-4FA9-B89C-E9D389BFE381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QUALITY BASELINE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9F7597-1FC5-4D87-9287-17FD06CD1305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6477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project has a clear testable baseline.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21AE35-8E17-4890-AFEA-5FA668E077F7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8953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D2635-DCB4-4C37-A9F7-07534E0FE435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8953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6C71AF-90C5-431C-BAE4-7E356A9B9CE1}"/>
              </a:ext>
            </a:extLst>
          </p:cNvPr>
          <p:cNvSpPr>
            <a:spLocks noGrp="1"/>
          </p:cNvSpPr>
          <p:nvPr/>
        </p:nvSpPr>
        <p:spPr>
          <a:xfrm>
            <a:off x="1428750" y="2457450"/>
            <a:ext cx="133350" cy="1333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DA19AA-D6CB-4F8E-8523-34D1E512C868}"/>
              </a:ext>
            </a:extLst>
          </p:cNvPr>
          <p:cNvSpPr>
            <a:spLocks noGrp="1"/>
          </p:cNvSpPr>
          <p:nvPr/>
        </p:nvSpPr>
        <p:spPr>
          <a:xfrm>
            <a:off x="1752600" y="23812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454FB7-E937-4ECD-A50A-52FBE74F009E}"/>
              </a:ext>
            </a:extLst>
          </p:cNvPr>
          <p:cNvSpPr>
            <a:spLocks noGrp="1"/>
          </p:cNvSpPr>
          <p:nvPr/>
        </p:nvSpPr>
        <p:spPr>
          <a:xfrm>
            <a:off x="3429000" y="23907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signup, login redirects, owner-only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ACE370-0238-4388-9557-A6664F3BD050}"/>
              </a:ext>
            </a:extLst>
          </p:cNvPr>
          <p:cNvSpPr>
            <a:spLocks noGrp="1"/>
          </p:cNvSpPr>
          <p:nvPr/>
        </p:nvSpPr>
        <p:spPr>
          <a:xfrm>
            <a:off x="1143000" y="3200400"/>
            <a:ext cx="8953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D1F4DE-966D-4941-BABD-FE3A88FABE18}"/>
              </a:ext>
            </a:extLst>
          </p:cNvPr>
          <p:cNvSpPr>
            <a:spLocks noGrp="1"/>
          </p:cNvSpPr>
          <p:nvPr/>
        </p:nvSpPr>
        <p:spPr>
          <a:xfrm>
            <a:off x="1428750" y="2914650"/>
            <a:ext cx="133350" cy="13335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D89FC2-0A08-4F6B-95A6-CEEBD393C8DF}"/>
              </a:ext>
            </a:extLst>
          </p:cNvPr>
          <p:cNvSpPr>
            <a:spLocks noGrp="1"/>
          </p:cNvSpPr>
          <p:nvPr/>
        </p:nvSpPr>
        <p:spPr>
          <a:xfrm>
            <a:off x="1752600" y="28384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31F476-4236-4516-ACD9-FE54ADD81359}"/>
              </a:ext>
            </a:extLst>
          </p:cNvPr>
          <p:cNvSpPr>
            <a:spLocks noGrp="1"/>
          </p:cNvSpPr>
          <p:nvPr/>
        </p:nvSpPr>
        <p:spPr>
          <a:xfrm>
            <a:off x="3429000" y="28479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upload limits, download names, search, ownership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A531EF-1A77-42F5-967D-2A8012DD09A2}"/>
              </a:ext>
            </a:extLst>
          </p:cNvPr>
          <p:cNvSpPr>
            <a:spLocks noGrp="1"/>
          </p:cNvSpPr>
          <p:nvPr/>
        </p:nvSpPr>
        <p:spPr>
          <a:xfrm>
            <a:off x="1143000" y="3657600"/>
            <a:ext cx="8953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7345C7-F893-43E9-B5AF-B0FA70E51552}"/>
              </a:ext>
            </a:extLst>
          </p:cNvPr>
          <p:cNvSpPr>
            <a:spLocks noGrp="1"/>
          </p:cNvSpPr>
          <p:nvPr/>
        </p:nvSpPr>
        <p:spPr>
          <a:xfrm>
            <a:off x="1428750" y="3371850"/>
            <a:ext cx="133350" cy="1333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8B9B11-841E-4DA4-BE7E-9D694B9C8D24}"/>
              </a:ext>
            </a:extLst>
          </p:cNvPr>
          <p:cNvSpPr>
            <a:spLocks noGrp="1"/>
          </p:cNvSpPr>
          <p:nvPr/>
        </p:nvSpPr>
        <p:spPr>
          <a:xfrm>
            <a:off x="1752600" y="3295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Folders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37180E-7619-4DAF-B91D-776FDF96E840}"/>
              </a:ext>
            </a:extLst>
          </p:cNvPr>
          <p:cNvSpPr>
            <a:spLocks noGrp="1"/>
          </p:cNvSpPr>
          <p:nvPr/>
        </p:nvSpPr>
        <p:spPr>
          <a:xfrm>
            <a:off x="3429000" y="33051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create, browse, move, rename, recursive stats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F0006E-E3AD-4B42-970F-DA8FD30524BB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8953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0D1881-EBCC-4E21-9CB8-8506FED379DB}"/>
              </a:ext>
            </a:extLst>
          </p:cNvPr>
          <p:cNvSpPr>
            <a:spLocks noGrp="1"/>
          </p:cNvSpPr>
          <p:nvPr/>
        </p:nvSpPr>
        <p:spPr>
          <a:xfrm>
            <a:off x="1428750" y="3829050"/>
            <a:ext cx="133350" cy="133350"/>
          </a:xfrm>
          <a:prstGeom prst="ellipse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F3D73-0558-47DF-B5FD-61F31C9F9A25}"/>
              </a:ext>
            </a:extLst>
          </p:cNvPr>
          <p:cNvSpPr>
            <a:spLocks noGrp="1"/>
          </p:cNvSpPr>
          <p:nvPr/>
        </p:nvSpPr>
        <p:spPr>
          <a:xfrm>
            <a:off x="1752600" y="37528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Sharing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06F3D1-79B1-4395-A34D-35D2ED9AA141}"/>
              </a:ext>
            </a:extLst>
          </p:cNvPr>
          <p:cNvSpPr>
            <a:spLocks noGrp="1"/>
          </p:cNvSpPr>
          <p:nvPr/>
        </p:nvSpPr>
        <p:spPr>
          <a:xfrm>
            <a:off x="3429000" y="37623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reuse, reissue, QR, expiration, unshare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91ADB2-3185-4C84-83B1-697E50BB4428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8953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82997A-26B8-4E38-976E-75FE3FE81AB1}"/>
              </a:ext>
            </a:extLst>
          </p:cNvPr>
          <p:cNvSpPr>
            <a:spLocks noGrp="1"/>
          </p:cNvSpPr>
          <p:nvPr/>
        </p:nvSpPr>
        <p:spPr>
          <a:xfrm>
            <a:off x="1428750" y="4286250"/>
            <a:ext cx="133350" cy="1333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A1D5FA-B1B2-4E79-AC8C-7B26D3A7AF97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Trash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310F28-9BE0-4157-BCAF-20ADCDD23061}"/>
              </a:ext>
            </a:extLst>
          </p:cNvPr>
          <p:cNvSpPr>
            <a:spLocks noGrp="1"/>
          </p:cNvSpPr>
          <p:nvPr/>
        </p:nvSpPr>
        <p:spPr>
          <a:xfrm>
            <a:off x="3429000" y="42195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soft-delete, restore, permanent delete, empty trash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7FCDA3-A39A-4097-B94B-8DE6CCB50398}"/>
              </a:ext>
            </a:extLst>
          </p:cNvPr>
          <p:cNvSpPr>
            <a:spLocks noGrp="1"/>
          </p:cNvSpPr>
          <p:nvPr/>
        </p:nvSpPr>
        <p:spPr>
          <a:xfrm>
            <a:off x="1143000" y="5029200"/>
            <a:ext cx="8953500" cy="9525"/>
          </a:xfrm>
          <a:prstGeom prst="rect">
            <a:avLst/>
          </a:prstGeom>
          <a:solidFill>
            <a:srgbClr val="D7D0C5"/>
          </a:solidFill>
          <a:ln w="0">
            <a:solidFill>
              <a:srgbClr val="D7D0C5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BB98A2-D323-40E6-945B-97A9113F8EC6}"/>
              </a:ext>
            </a:extLst>
          </p:cNvPr>
          <p:cNvSpPr>
            <a:spLocks noGrp="1"/>
          </p:cNvSpPr>
          <p:nvPr/>
        </p:nvSpPr>
        <p:spPr>
          <a:xfrm>
            <a:off x="1428750" y="4743450"/>
            <a:ext cx="133350" cy="1333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CDC88E-821D-4AA5-BDC3-048F8E826DA7}"/>
              </a:ext>
            </a:extLst>
          </p:cNvPr>
          <p:cNvSpPr>
            <a:spLocks noGrp="1"/>
          </p:cNvSpPr>
          <p:nvPr/>
        </p:nvSpPr>
        <p:spPr>
          <a:xfrm>
            <a:off x="1752600" y="46672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2B53B5-EF74-472E-973B-228E89427091}"/>
              </a:ext>
            </a:extLst>
          </p:cNvPr>
          <p:cNvSpPr>
            <a:spLocks noGrp="1"/>
          </p:cNvSpPr>
          <p:nvPr/>
        </p:nvSpPr>
        <p:spPr>
          <a:xfrm>
            <a:off x="3429000" y="46767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plan quotas, usage, dashboard warnings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95FD81-EA8F-467E-A0F1-D478D8B64DF6}"/>
              </a:ext>
            </a:extLst>
          </p:cNvPr>
          <p:cNvSpPr>
            <a:spLocks noGrp="1"/>
          </p:cNvSpPr>
          <p:nvPr/>
        </p:nvSpPr>
        <p:spPr>
          <a:xfrm>
            <a:off x="8096250" y="106680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2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41 file app tests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CB9C62-6A4E-479E-A422-09EF2A47572A}"/>
              </a:ext>
            </a:extLst>
          </p:cNvPr>
          <p:cNvSpPr>
            <a:spLocks noGrp="1"/>
          </p:cNvSpPr>
          <p:nvPr/>
        </p:nvSpPr>
        <p:spPr>
          <a:xfrm>
            <a:off x="8191500" y="14859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Current verification target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278A88-1AEB-48F2-BF3B-F5AB847F6DE4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46F578-9E30-4820-8F51-DB732A788F65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834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3397C96-3CF9-4AFD-968C-8B19CDAD3A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DE02A6D-EA9B-4331-9849-C09BA6AF4944}"/>
              </a:ext>
            </a:extLst>
          </p:cNvPr>
          <p:cNvSpPr>
            <a:spLocks noGrp="1"/>
          </p:cNvSpPr>
          <p:nvPr/>
        </p:nvSpPr>
        <p:spPr>
          <a:xfrm>
            <a:off x="552450" y="585788"/>
            <a:ext cx="3238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B286A22-9D64-43C2-B8F5-EA67FAEEE74A}"/>
              </a:ext>
            </a:extLst>
          </p:cNvPr>
          <p:cNvSpPr>
            <a:spLocks noGrp="1"/>
          </p:cNvSpPr>
          <p:nvPr/>
        </p:nvSpPr>
        <p:spPr>
          <a:xfrm>
            <a:off x="1009650" y="4953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BCC4E5-2DE5-4820-A4CA-CF18DF8DC0A9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step is collaboration, not more chrome.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940BE3-C292-4DDD-ABB3-E5C0F661EDAF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2762250" cy="1581150"/>
          </a:xfrm>
          <a:prstGeom prst="roundRect">
            <a:avLst>
              <a:gd name="adj" fmla="val 4819"/>
            </a:avLst>
          </a:prstGeom>
          <a:solidFill>
            <a:srgbClr val="16223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142F4B-96FC-4FF9-B19A-5E8F804BD2E1}"/>
              </a:ext>
            </a:extLst>
          </p:cNvPr>
          <p:cNvSpPr>
            <a:spLocks noGrp="1"/>
          </p:cNvSpPr>
          <p:nvPr/>
        </p:nvSpPr>
        <p:spPr>
          <a:xfrm>
            <a:off x="1314450" y="31623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Near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13070B-5AB7-41B3-8FCA-0D4B57E88006}"/>
              </a:ext>
            </a:extLst>
          </p:cNvPr>
          <p:cNvSpPr>
            <a:spLocks noGrp="1"/>
          </p:cNvSpPr>
          <p:nvPr/>
        </p:nvSpPr>
        <p:spPr>
          <a:xfrm>
            <a:off x="1314450" y="363855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Polish sharing, admin storage tools, empty-state onboarding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9A2270-8BB9-4736-A262-B5F852A9ADD0}"/>
              </a:ext>
            </a:extLst>
          </p:cNvPr>
          <p:cNvSpPr>
            <a:spLocks noGrp="1"/>
          </p:cNvSpPr>
          <p:nvPr/>
        </p:nvSpPr>
        <p:spPr>
          <a:xfrm>
            <a:off x="4476750" y="2876550"/>
            <a:ext cx="2762250" cy="1581150"/>
          </a:xfrm>
          <a:prstGeom prst="roundRect">
            <a:avLst>
              <a:gd name="adj" fmla="val 4819"/>
            </a:avLst>
          </a:prstGeom>
          <a:solidFill>
            <a:srgbClr val="16223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CFA77E-B275-4F89-8C37-1911E76F7DDF}"/>
              </a:ext>
            </a:extLst>
          </p:cNvPr>
          <p:cNvSpPr>
            <a:spLocks noGrp="1"/>
          </p:cNvSpPr>
          <p:nvPr/>
        </p:nvSpPr>
        <p:spPr>
          <a:xfrm>
            <a:off x="4743450" y="31623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9E1C48-B1C8-434A-9886-B0A5B3CDB14B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Folder permissions, public folder links, version history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8A2BC1-8107-493E-969C-E03BCF68FFEF}"/>
              </a:ext>
            </a:extLst>
          </p:cNvPr>
          <p:cNvSpPr>
            <a:spLocks noGrp="1"/>
          </p:cNvSpPr>
          <p:nvPr/>
        </p:nvSpPr>
        <p:spPr>
          <a:xfrm>
            <a:off x="7905750" y="2876550"/>
            <a:ext cx="2762250" cy="1581150"/>
          </a:xfrm>
          <a:prstGeom prst="roundRect">
            <a:avLst>
              <a:gd name="adj" fmla="val 4819"/>
            </a:avLst>
          </a:prstGeom>
          <a:solidFill>
            <a:srgbClr val="16223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0DB22B-3168-40C8-8530-8BDF1E6C619D}"/>
              </a:ext>
            </a:extLst>
          </p:cNvPr>
          <p:cNvSpPr>
            <a:spLocks noGrp="1"/>
          </p:cNvSpPr>
          <p:nvPr/>
        </p:nvSpPr>
        <p:spPr>
          <a:xfrm>
            <a:off x="8172450" y="31623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59D7B4-96A9-4FA3-8749-27878DCFEEED}"/>
              </a:ext>
            </a:extLst>
          </p:cNvPr>
          <p:cNvSpPr>
            <a:spLocks noGrp="1"/>
          </p:cNvSpPr>
          <p:nvPr/>
        </p:nvSpPr>
        <p:spPr>
          <a:xfrm>
            <a:off x="8172450" y="363855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Object storage backend, activity audit, team drives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A3A1D-78E3-44A8-86AC-F58FCE87DAC4}"/>
              </a:ext>
            </a:extLst>
          </p:cNvPr>
          <p:cNvSpPr>
            <a:spLocks noGrp="1"/>
          </p:cNvSpPr>
          <p:nvPr/>
        </p:nvSpPr>
        <p:spPr>
          <a:xfrm>
            <a:off x="1504950" y="5286375"/>
            <a:ext cx="838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Simple Drive is ready to demo as a working MVP and strong enough to keep evolving into a real private drive product.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3EF1D7-65E8-4235-A578-6C74DBF6DA4B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Simple Drive project overview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A8D7A6-47F2-4F50-A1E2-7502452ED3A7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DD9BC9-6431-CAFD-D9B8-4CBC40FECA2D}"/>
              </a:ext>
            </a:extLst>
          </p:cNvPr>
          <p:cNvCxnSpPr/>
          <p:nvPr/>
        </p:nvCxnSpPr>
        <p:spPr>
          <a:xfrm>
            <a:off x="3810000" y="3638550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04F41D-5FE2-2AB3-57A8-FDB3DA4F94C6}"/>
              </a:ext>
            </a:extLst>
          </p:cNvPr>
          <p:cNvCxnSpPr/>
          <p:nvPr/>
        </p:nvCxnSpPr>
        <p:spPr>
          <a:xfrm>
            <a:off x="7239000" y="3638550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099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Macintosh PowerPoint</Application>
  <DocSecurity>0</DocSecurity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2026-05-12T03:11:06Z</dcterms:created>
  <dcterms:modified xsi:type="dcterms:W3CDTF">2026-05-12T03:38:31Z</dcterms:modified>
</cp:coreProperties>
</file>